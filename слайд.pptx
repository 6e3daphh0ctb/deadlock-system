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ommissioner ExtraBold" panose="020B0604020202020204" charset="0"/>
      <p:regular r:id="rId15"/>
    </p:embeddedFont>
    <p:embeddedFont>
      <p:font typeface="Golos Text" panose="020B0604020202020204" charset="0"/>
      <p:regular r:id="rId16"/>
    </p:embeddedFont>
    <p:embeddedFont>
      <p:font typeface="Golos Text Medium" panose="020B0604020202020204" charset="0"/>
      <p:regular r:id="rId17"/>
    </p:embeddedFont>
    <p:embeddedFont>
      <p:font typeface="Golos Text SemiBold" panose="020B0604020202020204" charset="0"/>
      <p:regular r:id="rId18"/>
    </p:embeddedFont>
    <p:embeddedFont>
      <p:font typeface="JetBrains Mono" panose="020B0604020202020204" charset="0"/>
      <p:regular r:id="rId19"/>
    </p:embeddedFont>
    <p:embeddedFont>
      <p:font typeface="JetBrains Mono Medium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335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3A0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pic>
        <p:nvPicPr>
          <p:cNvPr id="5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3A0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914400"/>
            <a:ext cx="10820129" cy="4152602"/>
          </a:xfrm>
          <a:prstGeom prst="roundRect">
            <a:avLst>
              <a:gd name="adj" fmla="val 2936"/>
            </a:avLst>
          </a:prstGeom>
          <a:solidFill>
            <a:srgbClr val="3A0B3C"/>
          </a:solidFill>
          <a:ln/>
        </p:spPr>
      </p:sp>
      <p:sp>
        <p:nvSpPr>
          <p:cNvPr id="3" name="Text 1"/>
          <p:cNvSpPr/>
          <p:nvPr/>
        </p:nvSpPr>
        <p:spPr>
          <a:xfrm>
            <a:off x="1117572" y="1342390"/>
            <a:ext cx="9956551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Обнаружение и предотвращение взаимоблокировок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117572" y="2721173"/>
            <a:ext cx="2489039" cy="50701"/>
          </a:xfrm>
          <a:prstGeom prst="roundRect">
            <a:avLst>
              <a:gd name="adj" fmla="val 49999"/>
            </a:avLst>
          </a:prstGeom>
          <a:solidFill>
            <a:srgbClr val="7FE3D0"/>
          </a:solidFill>
          <a:ln/>
        </p:spPr>
      </p:sp>
      <p:sp>
        <p:nvSpPr>
          <p:cNvPr id="5" name="Text 3"/>
          <p:cNvSpPr/>
          <p:nvPr/>
        </p:nvSpPr>
        <p:spPr>
          <a:xfrm>
            <a:off x="1117572" y="3176786"/>
            <a:ext cx="995655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Программный комплекс на Python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7572" y="3637161"/>
            <a:ext cx="9956551" cy="1048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350"/>
              </a:spcAft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Дисциплина: Операционные системы</a:t>
            </a:r>
            <a:endParaRPr lang="en-US" sz="1400" dirty="0"/>
          </a:p>
          <a:p>
            <a:pPr marL="0" indent="0" algn="l">
              <a:lnSpc>
                <a:spcPct val="108000"/>
              </a:lnSpc>
              <a:spcAft>
                <a:spcPts val="1350"/>
              </a:spcAft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ФИО студента: Жумагазин А.А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2026</a:t>
            </a:r>
            <a:endParaRPr lang="en-US" sz="1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49D7B45-2D98-4524-8DAC-9ECD0999D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1522"/>
            <a:ext cx="12192001" cy="3164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4190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Цели и задачи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240730"/>
            <a:ext cx="5486263" cy="5126633"/>
          </a:xfrm>
          <a:prstGeom prst="roundRect">
            <a:avLst>
              <a:gd name="adj" fmla="val 2378"/>
            </a:avLst>
          </a:prstGeom>
          <a:solidFill>
            <a:srgbClr val="FFF8FB"/>
          </a:solidFill>
          <a:ln/>
        </p:spPr>
      </p:sp>
      <p:sp>
        <p:nvSpPr>
          <p:cNvPr id="4" name="Text 2"/>
          <p:cNvSpPr/>
          <p:nvPr/>
        </p:nvSpPr>
        <p:spPr>
          <a:xfrm>
            <a:off x="787380" y="1584228"/>
            <a:ext cx="4825879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000000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Цели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87380" y="2313781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6" name="Text 4"/>
          <p:cNvSpPr/>
          <p:nvPr/>
        </p:nvSpPr>
        <p:spPr>
          <a:xfrm>
            <a:off x="1040084" y="2235736"/>
            <a:ext cx="457317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Реализовать алгоритм банкира и проверку безопасности состояния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7380" y="3388122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8" name="Text 6"/>
          <p:cNvSpPr/>
          <p:nvPr/>
        </p:nvSpPr>
        <p:spPr>
          <a:xfrm>
            <a:off x="1040084" y="3310076"/>
            <a:ext cx="457317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Реализовать алгоритм обнаружения тупиков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7380" y="4462463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10" name="Text 8"/>
          <p:cNvSpPr/>
          <p:nvPr/>
        </p:nvSpPr>
        <p:spPr>
          <a:xfrm>
            <a:off x="1040084" y="4384417"/>
            <a:ext cx="457317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Сравнить стратегии восстановления из тупика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7380" y="5536803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12" name="Text 10"/>
          <p:cNvSpPr/>
          <p:nvPr/>
        </p:nvSpPr>
        <p:spPr>
          <a:xfrm>
            <a:off x="1040084" y="5458758"/>
            <a:ext cx="457317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Визуализировать граф распределения ресурсов (RAG)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48244" y="1240730"/>
            <a:ext cx="5486263" cy="5126633"/>
          </a:xfrm>
          <a:prstGeom prst="roundRect">
            <a:avLst>
              <a:gd name="adj" fmla="val 2378"/>
            </a:avLst>
          </a:prstGeom>
          <a:solidFill>
            <a:srgbClr val="FFF8FB"/>
          </a:solidFill>
          <a:ln/>
        </p:spPr>
      </p:sp>
      <p:sp>
        <p:nvSpPr>
          <p:cNvPr id="14" name="Text 12"/>
          <p:cNvSpPr/>
          <p:nvPr/>
        </p:nvSpPr>
        <p:spPr>
          <a:xfrm>
            <a:off x="6578435" y="1584228"/>
            <a:ext cx="4825879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000000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Задачи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6578435" y="2313781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16" name="Text 14"/>
          <p:cNvSpPr/>
          <p:nvPr/>
        </p:nvSpPr>
        <p:spPr>
          <a:xfrm>
            <a:off x="6831139" y="2235736"/>
            <a:ext cx="457317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Разработать модульную систему на Python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78435" y="3388122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18" name="Text 16"/>
          <p:cNvSpPr/>
          <p:nvPr/>
        </p:nvSpPr>
        <p:spPr>
          <a:xfrm>
            <a:off x="6831139" y="3310076"/>
            <a:ext cx="457317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Создать 6 тестовых конфигураций: безопасные, небезопасные, тупиковые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78435" y="4462463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20" name="Text 18"/>
          <p:cNvSpPr/>
          <p:nvPr/>
        </p:nvSpPr>
        <p:spPr>
          <a:xfrm>
            <a:off x="6831139" y="4384417"/>
            <a:ext cx="457317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Реализовать CLI-интерфейс и визуализацию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87380" y="3061791"/>
            <a:ext cx="4825879" cy="12700"/>
          </a:xfrm>
          <a:prstGeom prst="rect">
            <a:avLst/>
          </a:prstGeom>
          <a:solidFill>
            <a:srgbClr val="7E3D7C"/>
          </a:solidFill>
          <a:ln/>
        </p:spPr>
      </p:sp>
      <p:sp>
        <p:nvSpPr>
          <p:cNvPr id="22" name="Shape 20"/>
          <p:cNvSpPr/>
          <p:nvPr/>
        </p:nvSpPr>
        <p:spPr>
          <a:xfrm>
            <a:off x="787380" y="4136132"/>
            <a:ext cx="4825879" cy="12700"/>
          </a:xfrm>
          <a:prstGeom prst="rect">
            <a:avLst/>
          </a:prstGeom>
          <a:solidFill>
            <a:srgbClr val="7E3D7C"/>
          </a:solidFill>
          <a:ln/>
        </p:spPr>
      </p:sp>
      <p:sp>
        <p:nvSpPr>
          <p:cNvPr id="23" name="Shape 21"/>
          <p:cNvSpPr/>
          <p:nvPr/>
        </p:nvSpPr>
        <p:spPr>
          <a:xfrm>
            <a:off x="787380" y="5210473"/>
            <a:ext cx="4825879" cy="12700"/>
          </a:xfrm>
          <a:prstGeom prst="rect">
            <a:avLst/>
          </a:prstGeom>
          <a:solidFill>
            <a:srgbClr val="7E3D7C"/>
          </a:solidFill>
          <a:ln/>
        </p:spPr>
      </p:sp>
      <p:sp>
        <p:nvSpPr>
          <p:cNvPr id="24" name="Shape 22"/>
          <p:cNvSpPr/>
          <p:nvPr/>
        </p:nvSpPr>
        <p:spPr>
          <a:xfrm>
            <a:off x="6578435" y="3061791"/>
            <a:ext cx="4825879" cy="12700"/>
          </a:xfrm>
          <a:prstGeom prst="rect">
            <a:avLst/>
          </a:prstGeom>
          <a:solidFill>
            <a:srgbClr val="7E3D7C"/>
          </a:solidFill>
          <a:ln/>
        </p:spPr>
      </p:sp>
      <p:sp>
        <p:nvSpPr>
          <p:cNvPr id="25" name="Shape 23"/>
          <p:cNvSpPr/>
          <p:nvPr/>
        </p:nvSpPr>
        <p:spPr>
          <a:xfrm>
            <a:off x="6578435" y="4136132"/>
            <a:ext cx="4825879" cy="12700"/>
          </a:xfrm>
          <a:prstGeom prst="rect">
            <a:avLst/>
          </a:prstGeom>
          <a:solidFill>
            <a:srgbClr val="7E3D7C"/>
          </a:solidFill>
          <a:ln/>
        </p:spPr>
      </p:sp>
      <p:sp>
        <p:nvSpPr>
          <p:cNvPr id="26" name="Text 24"/>
          <p:cNvSpPr/>
          <p:nvPr/>
        </p:nvSpPr>
        <p:spPr>
          <a:xfrm>
            <a:off x="11790861" y="6526510"/>
            <a:ext cx="40083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02</a:t>
            </a:r>
            <a:endParaRPr lang="en-US" sz="12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0ACCB9B-5B1E-4EAD-A3EA-990F6B1A5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001" y="6541522"/>
            <a:ext cx="1223000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4190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Архитектура проекта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240730"/>
            <a:ext cx="4688762" cy="4313138"/>
          </a:xfrm>
          <a:prstGeom prst="roundRect">
            <a:avLst>
              <a:gd name="adj" fmla="val 2827"/>
            </a:avLst>
          </a:prstGeom>
          <a:solidFill>
            <a:srgbClr val="FFF8FB"/>
          </a:solidFill>
          <a:ln/>
        </p:spPr>
      </p:sp>
      <p:sp>
        <p:nvSpPr>
          <p:cNvPr id="4" name="Text 2"/>
          <p:cNvSpPr/>
          <p:nvPr/>
        </p:nvSpPr>
        <p:spPr>
          <a:xfrm>
            <a:off x="787380" y="1600458"/>
            <a:ext cx="435857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Структура проекта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7380" y="1941711"/>
          <a:ext cx="4028379" cy="3256477"/>
        </p:xfrm>
        <a:graphic>
          <a:graphicData uri="http://schemas.openxmlformats.org/drawingml/2006/table">
            <a:tbl>
              <a:tblPr/>
              <a:tblGrid>
                <a:gridCol w="4028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1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deadlock-system/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├── configs/          (6 JSON-конфигураций)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├── deadlock_solver.py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├── visualizer.py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├── main.py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└── requirements.txt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446" marR="171446" marT="91438" marB="91438" anchor="ctr">
                    <a:lnL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FF8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040" y="1240730"/>
            <a:ext cx="571486" cy="57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3040" y="1939865"/>
            <a:ext cx="613146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deadlock_solver.py — ядро: банкир, обнаружение, восстановление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040" y="3036491"/>
            <a:ext cx="571486" cy="571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03040" y="3735626"/>
            <a:ext cx="613146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visualizer.py — построение Resource Allocation Graph</a:t>
            </a:r>
            <a:endParaRPr lang="en-US" sz="1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3040" y="4523780"/>
            <a:ext cx="571486" cy="571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03040" y="5222915"/>
            <a:ext cx="613146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main.py — интерактивный запуск и анализ</a:t>
            </a:r>
            <a:endParaRPr lang="en-US" sz="1800" dirty="0"/>
          </a:p>
        </p:txBody>
      </p:sp>
      <p:sp>
        <p:nvSpPr>
          <p:cNvPr id="12" name="Shape 6"/>
          <p:cNvSpPr/>
          <p:nvPr/>
        </p:nvSpPr>
        <p:spPr>
          <a:xfrm>
            <a:off x="5603040" y="2801541"/>
            <a:ext cx="6131466" cy="12700"/>
          </a:xfrm>
          <a:prstGeom prst="rect">
            <a:avLst/>
          </a:prstGeom>
          <a:solidFill>
            <a:srgbClr val="7FE3D0"/>
          </a:solidFill>
          <a:ln/>
        </p:spPr>
      </p:sp>
      <p:sp>
        <p:nvSpPr>
          <p:cNvPr id="13" name="Shape 7"/>
          <p:cNvSpPr/>
          <p:nvPr/>
        </p:nvSpPr>
        <p:spPr>
          <a:xfrm>
            <a:off x="5603040" y="4288830"/>
            <a:ext cx="6131466" cy="12700"/>
          </a:xfrm>
          <a:prstGeom prst="rect">
            <a:avLst/>
          </a:prstGeom>
          <a:solidFill>
            <a:srgbClr val="7FE3D0"/>
          </a:solidFill>
          <a:ln/>
        </p:spPr>
      </p:sp>
      <p:sp>
        <p:nvSpPr>
          <p:cNvPr id="14" name="Text 8"/>
          <p:cNvSpPr/>
          <p:nvPr/>
        </p:nvSpPr>
        <p:spPr>
          <a:xfrm>
            <a:off x="11790167" y="6526510"/>
            <a:ext cx="40152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03</a:t>
            </a:r>
            <a:endParaRPr lang="en-US" sz="12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1CD59B1-4310-40DE-B096-F8E9B269AC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9001" y="6541522"/>
            <a:ext cx="1223000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4190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Алгоритм банкира (Banker's Algorithm)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254065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Проверяет безопасное состояние и ищет безопасную последовательность выполнения процессов.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189" y="1727101"/>
            <a:ext cx="2590735" cy="2635250"/>
          </a:xfrm>
          <a:prstGeom prst="roundRect">
            <a:avLst>
              <a:gd name="adj" fmla="val 4706"/>
            </a:avLst>
          </a:prstGeom>
          <a:solidFill>
            <a:srgbClr val="FFF8FB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1981101"/>
            <a:ext cx="870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60383" y="2301180"/>
            <a:ext cx="2184246" cy="19050"/>
          </a:xfrm>
          <a:prstGeom prst="rect">
            <a:avLst/>
          </a:prstGeom>
          <a:solidFill>
            <a:srgbClr val="7FE3D0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2470051"/>
            <a:ext cx="218434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Вычисляется матрица Need = Max − Allocation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52716" y="1727101"/>
            <a:ext cx="2590735" cy="2635250"/>
          </a:xfrm>
          <a:prstGeom prst="roundRect">
            <a:avLst>
              <a:gd name="adj" fmla="val 4706"/>
            </a:avLst>
          </a:prstGeom>
          <a:solidFill>
            <a:srgbClr val="FFF8FB"/>
          </a:solidFill>
          <a:ln/>
        </p:spPr>
      </p:sp>
      <p:sp>
        <p:nvSpPr>
          <p:cNvPr id="9" name="Text 7"/>
          <p:cNvSpPr/>
          <p:nvPr/>
        </p:nvSpPr>
        <p:spPr>
          <a:xfrm>
            <a:off x="3555911" y="1981101"/>
            <a:ext cx="8926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55911" y="2301180"/>
            <a:ext cx="2184246" cy="19050"/>
          </a:xfrm>
          <a:prstGeom prst="rect">
            <a:avLst/>
          </a:prstGeom>
          <a:solidFill>
            <a:srgbClr val="7FE3D0"/>
          </a:solidFill>
          <a:ln/>
        </p:spPr>
      </p:sp>
      <p:sp>
        <p:nvSpPr>
          <p:cNvPr id="11" name="Text 9"/>
          <p:cNvSpPr/>
          <p:nvPr/>
        </p:nvSpPr>
        <p:spPr>
          <a:xfrm>
            <a:off x="3555911" y="2470051"/>
            <a:ext cx="218434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Ищется процесс, у которого Need ≤ Available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48244" y="1727101"/>
            <a:ext cx="2590735" cy="2635250"/>
          </a:xfrm>
          <a:prstGeom prst="roundRect">
            <a:avLst>
              <a:gd name="adj" fmla="val 4706"/>
            </a:avLst>
          </a:prstGeom>
          <a:solidFill>
            <a:srgbClr val="FFF8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439" y="1981101"/>
            <a:ext cx="8937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51439" y="2301180"/>
            <a:ext cx="2184246" cy="19050"/>
          </a:xfrm>
          <a:prstGeom prst="rect">
            <a:avLst/>
          </a:prstGeom>
          <a:solidFill>
            <a:srgbClr val="7FE3D0"/>
          </a:solidFill>
          <a:ln/>
        </p:spPr>
      </p:sp>
      <p:sp>
        <p:nvSpPr>
          <p:cNvPr id="15" name="Text 13"/>
          <p:cNvSpPr/>
          <p:nvPr/>
        </p:nvSpPr>
        <p:spPr>
          <a:xfrm>
            <a:off x="6451439" y="2470051"/>
            <a:ext cx="218434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Ресурсы «возвращаются» в Available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3771" y="1727101"/>
            <a:ext cx="2590735" cy="2635250"/>
          </a:xfrm>
          <a:prstGeom prst="roundRect">
            <a:avLst>
              <a:gd name="adj" fmla="val 4706"/>
            </a:avLst>
          </a:prstGeom>
          <a:solidFill>
            <a:srgbClr val="FFF8FB"/>
          </a:solidFill>
          <a:ln/>
        </p:spPr>
      </p:sp>
      <p:sp>
        <p:nvSpPr>
          <p:cNvPr id="17" name="Text 15"/>
          <p:cNvSpPr/>
          <p:nvPr/>
        </p:nvSpPr>
        <p:spPr>
          <a:xfrm>
            <a:off x="9346966" y="1981101"/>
            <a:ext cx="8992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46966" y="2301180"/>
            <a:ext cx="2184246" cy="19050"/>
          </a:xfrm>
          <a:prstGeom prst="rect">
            <a:avLst/>
          </a:prstGeom>
          <a:solidFill>
            <a:srgbClr val="7FE3D0"/>
          </a:solidFill>
          <a:ln/>
        </p:spPr>
      </p:sp>
      <p:sp>
        <p:nvSpPr>
          <p:cNvPr id="19" name="Text 17"/>
          <p:cNvSpPr/>
          <p:nvPr/>
        </p:nvSpPr>
        <p:spPr>
          <a:xfrm>
            <a:off x="9346966" y="2470051"/>
            <a:ext cx="2184345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Если все процессы завершены → состояние безопасное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189" y="4553486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Небезопасное состояние ≠ тупик: это только риск.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786297" y="6526510"/>
            <a:ext cx="40539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04</a:t>
            </a:r>
            <a:endParaRPr lang="en-US" sz="12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59A9019-BDB8-45FB-8C3C-DBFDCD91E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001" y="6541522"/>
            <a:ext cx="1223000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4190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Алгоритм обнаружения тупиков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254065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Использует матрицу Request и помечает процессы, которые не могут получить ресурсы.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65" y="1727101"/>
            <a:ext cx="4834114" cy="3555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6507" y="3852522"/>
            <a:ext cx="1561396" cy="16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kern="100" spc="-15" dirty="0">
                <a:solidFill>
                  <a:srgbClr val="000000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Idea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179605" y="2914694"/>
            <a:ext cx="1198843" cy="16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kern="100" spc="-15" dirty="0">
                <a:solidFill>
                  <a:srgbClr val="000000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Research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86312" y="3838020"/>
            <a:ext cx="1082826" cy="16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kern="100" spc="-15" dirty="0">
                <a:solidFill>
                  <a:srgbClr val="000000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Design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81120" y="4466461"/>
            <a:ext cx="1019984" cy="16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kern="100" spc="-15" dirty="0">
                <a:solidFill>
                  <a:srgbClr val="000000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Develop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048439" y="2305589"/>
            <a:ext cx="889464" cy="167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kern="100" spc="-15" dirty="0">
                <a:solidFill>
                  <a:srgbClr val="000000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Launch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045645" y="1818481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11" name="Text 8"/>
          <p:cNvSpPr/>
          <p:nvPr/>
        </p:nvSpPr>
        <p:spPr>
          <a:xfrm>
            <a:off x="7323748" y="1740436"/>
            <a:ext cx="4410758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После всех возможных освобождений незавершённые процессы означают обнаруженный тупик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045645" y="3259038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13" name="Text 10"/>
          <p:cNvSpPr/>
          <p:nvPr/>
        </p:nvSpPr>
        <p:spPr>
          <a:xfrm>
            <a:off x="7323748" y="3180993"/>
            <a:ext cx="441075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Один экземпляр ресурса: цикл в графе = гарантированный тупик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045645" y="4391025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15" name="Text 12"/>
          <p:cNvSpPr/>
          <p:nvPr/>
        </p:nvSpPr>
        <p:spPr>
          <a:xfrm>
            <a:off x="7323748" y="4312980"/>
            <a:ext cx="4410758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Несколько экземпляров: цикл — необходимое, но не достаточное условие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045645" y="2932708"/>
            <a:ext cx="4688862" cy="12700"/>
          </a:xfrm>
          <a:prstGeom prst="rect">
            <a:avLst/>
          </a:prstGeom>
          <a:solidFill>
            <a:srgbClr val="7FE3D0"/>
          </a:solidFill>
          <a:ln/>
        </p:spPr>
      </p:sp>
      <p:sp>
        <p:nvSpPr>
          <p:cNvPr id="17" name="Shape 14"/>
          <p:cNvSpPr/>
          <p:nvPr/>
        </p:nvSpPr>
        <p:spPr>
          <a:xfrm>
            <a:off x="7045645" y="4064695"/>
            <a:ext cx="4688862" cy="12700"/>
          </a:xfrm>
          <a:prstGeom prst="rect">
            <a:avLst/>
          </a:prstGeom>
          <a:solidFill>
            <a:srgbClr val="7FE3D0"/>
          </a:solidFill>
          <a:ln/>
        </p:spPr>
      </p:sp>
      <p:sp>
        <p:nvSpPr>
          <p:cNvPr id="18" name="Text 15"/>
          <p:cNvSpPr/>
          <p:nvPr/>
        </p:nvSpPr>
        <p:spPr>
          <a:xfrm>
            <a:off x="11790861" y="6526510"/>
            <a:ext cx="40083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05</a:t>
            </a:r>
            <a:endParaRPr lang="en-US" sz="12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E84EA94-CD3A-4D3E-BEFE-05E2F7898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9001" y="6541522"/>
            <a:ext cx="1223000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4190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Сравнение стратегий восстановления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240730"/>
            <a:ext cx="3799685" cy="4223742"/>
          </a:xfrm>
          <a:prstGeom prst="roundRect">
            <a:avLst>
              <a:gd name="adj" fmla="val 3209"/>
            </a:avLst>
          </a:prstGeom>
          <a:solidFill>
            <a:srgbClr val="FFF8FB"/>
          </a:solidFill>
          <a:ln/>
        </p:spPr>
      </p:sp>
      <p:sp>
        <p:nvSpPr>
          <p:cNvPr id="4" name="Text 2"/>
          <p:cNvSpPr/>
          <p:nvPr/>
        </p:nvSpPr>
        <p:spPr>
          <a:xfrm>
            <a:off x="787380" y="1584228"/>
            <a:ext cx="3139302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000000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Завершение процессов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87380" y="2793802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6" name="Text 4"/>
          <p:cNvSpPr/>
          <p:nvPr/>
        </p:nvSpPr>
        <p:spPr>
          <a:xfrm>
            <a:off x="1040084" y="2715756"/>
            <a:ext cx="288659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Убиваем процессы по возрастанию потерь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7380" y="3868142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8" name="Text 6"/>
          <p:cNvSpPr/>
          <p:nvPr/>
        </p:nvSpPr>
        <p:spPr>
          <a:xfrm>
            <a:off x="1040084" y="3790097"/>
            <a:ext cx="288659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Теряется 100% выполненной работы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963" y="2201069"/>
            <a:ext cx="2763669" cy="230306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934722" y="1240730"/>
            <a:ext cx="3799785" cy="4223742"/>
          </a:xfrm>
          <a:prstGeom prst="roundRect">
            <a:avLst>
              <a:gd name="adj" fmla="val 3209"/>
            </a:avLst>
          </a:prstGeom>
          <a:solidFill>
            <a:srgbClr val="FFF8FB"/>
          </a:solidFill>
          <a:ln/>
        </p:spPr>
      </p:sp>
      <p:sp>
        <p:nvSpPr>
          <p:cNvPr id="11" name="Text 8"/>
          <p:cNvSpPr/>
          <p:nvPr/>
        </p:nvSpPr>
        <p:spPr>
          <a:xfrm>
            <a:off x="8264914" y="1584228"/>
            <a:ext cx="3139401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000000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Вытеснение ресурсов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8264914" y="2793802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13" name="Text 10"/>
          <p:cNvSpPr/>
          <p:nvPr/>
        </p:nvSpPr>
        <p:spPr>
          <a:xfrm>
            <a:off x="8517617" y="2715756"/>
            <a:ext cx="288669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Отбираем ресурсы у процесса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64914" y="3868142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15" name="Text 12"/>
          <p:cNvSpPr/>
          <p:nvPr/>
        </p:nvSpPr>
        <p:spPr>
          <a:xfrm>
            <a:off x="8517617" y="3790097"/>
            <a:ext cx="288669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Откат к контрольной точке (checkpoint)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264914" y="4942483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17" name="Text 14"/>
          <p:cNvSpPr/>
          <p:nvPr/>
        </p:nvSpPr>
        <p:spPr>
          <a:xfrm>
            <a:off x="8517617" y="4864437"/>
            <a:ext cx="288669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Теряется ~60% работы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7189" y="5655608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Сравнение потерь вычислений: завершение процессов — 100%; вытеснение ресурсов — ~60%.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87380" y="3541812"/>
            <a:ext cx="3139302" cy="12700"/>
          </a:xfrm>
          <a:prstGeom prst="rect">
            <a:avLst/>
          </a:prstGeom>
          <a:solidFill>
            <a:srgbClr val="7FE3D0"/>
          </a:solidFill>
          <a:ln/>
        </p:spPr>
      </p:sp>
      <p:sp>
        <p:nvSpPr>
          <p:cNvPr id="20" name="Shape 17"/>
          <p:cNvSpPr/>
          <p:nvPr/>
        </p:nvSpPr>
        <p:spPr>
          <a:xfrm>
            <a:off x="8264914" y="3541812"/>
            <a:ext cx="3139401" cy="12700"/>
          </a:xfrm>
          <a:prstGeom prst="rect">
            <a:avLst/>
          </a:prstGeom>
          <a:solidFill>
            <a:srgbClr val="7FE3D0"/>
          </a:solidFill>
          <a:ln/>
        </p:spPr>
      </p:sp>
      <p:sp>
        <p:nvSpPr>
          <p:cNvPr id="21" name="Shape 18"/>
          <p:cNvSpPr/>
          <p:nvPr/>
        </p:nvSpPr>
        <p:spPr>
          <a:xfrm>
            <a:off x="8264914" y="4616152"/>
            <a:ext cx="3139401" cy="12700"/>
          </a:xfrm>
          <a:prstGeom prst="rect">
            <a:avLst/>
          </a:prstGeom>
          <a:solidFill>
            <a:srgbClr val="7FE3D0"/>
          </a:solidFill>
          <a:ln/>
        </p:spPr>
      </p:sp>
      <p:sp>
        <p:nvSpPr>
          <p:cNvPr id="22" name="Text 19"/>
          <p:cNvSpPr/>
          <p:nvPr/>
        </p:nvSpPr>
        <p:spPr>
          <a:xfrm>
            <a:off x="11787091" y="6526510"/>
            <a:ext cx="40460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06</a:t>
            </a:r>
            <a:endParaRPr lang="en-US" sz="120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6560205-4A26-4EDF-81D1-D4A744B2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9001" y="6541522"/>
            <a:ext cx="1223000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4190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Тестовые конфигурации и визуализация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240730"/>
            <a:ext cx="5486263" cy="2641402"/>
          </a:xfrm>
          <a:prstGeom prst="roundRect">
            <a:avLst>
              <a:gd name="adj" fmla="val 4616"/>
            </a:avLst>
          </a:prstGeom>
          <a:solidFill>
            <a:srgbClr val="FFF8FB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1508028"/>
            <a:ext cx="5029074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000000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6 тестовых наборов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783" y="2146201"/>
            <a:ext cx="5029074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 безопасных состояния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 небезопасное состояние без тупика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 тупиковых ситуации: простой, множественный, сложный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48244" y="1508028"/>
            <a:ext cx="5486263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Resource Allocation Graph (RAG)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248244" y="2626221"/>
            <a:ext cx="5486263" cy="1027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Процессы — круги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Ресурсы — квадраты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Стрелки показывают Allocation и Request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98501" y="6526510"/>
            <a:ext cx="39319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07</a:t>
            </a:r>
            <a:endParaRPr lang="en-US" sz="1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B5CA5D0-A4C1-46B6-A9FD-CB5A95077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001" y="6541522"/>
            <a:ext cx="1223000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4190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Результаты и выводы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240730"/>
            <a:ext cx="5486263" cy="5061347"/>
          </a:xfrm>
          <a:prstGeom prst="roundRect">
            <a:avLst>
              <a:gd name="adj" fmla="val 2409"/>
            </a:avLst>
          </a:prstGeom>
          <a:solidFill>
            <a:srgbClr val="FFF8FB"/>
          </a:solidFill>
          <a:ln/>
        </p:spPr>
      </p:sp>
      <p:sp>
        <p:nvSpPr>
          <p:cNvPr id="4" name="Shape 2"/>
          <p:cNvSpPr/>
          <p:nvPr/>
        </p:nvSpPr>
        <p:spPr>
          <a:xfrm>
            <a:off x="812780" y="1662311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5" name="Text 3"/>
          <p:cNvSpPr/>
          <p:nvPr/>
        </p:nvSpPr>
        <p:spPr>
          <a:xfrm>
            <a:off x="1090883" y="1584265"/>
            <a:ext cx="449697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Полностью рабочий программный комплекс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780" y="2736652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7" name="Text 5"/>
          <p:cNvSpPr/>
          <p:nvPr/>
        </p:nvSpPr>
        <p:spPr>
          <a:xfrm>
            <a:off x="1090883" y="2658606"/>
            <a:ext cx="449697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Корректная работа алгоритма банкира и обнаружения тупиков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2780" y="3810992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9" name="Text 7"/>
          <p:cNvSpPr/>
          <p:nvPr/>
        </p:nvSpPr>
        <p:spPr>
          <a:xfrm>
            <a:off x="1090883" y="3732947"/>
            <a:ext cx="449697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Сравнение двух стратегий восстановления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780" y="4885333"/>
            <a:ext cx="125707" cy="125710"/>
          </a:xfrm>
          <a:prstGeom prst="ellipse">
            <a:avLst/>
          </a:prstGeom>
          <a:solidFill>
            <a:srgbClr val="7FE3D0"/>
          </a:solidFill>
          <a:ln/>
        </p:spPr>
      </p:sp>
      <p:sp>
        <p:nvSpPr>
          <p:cNvPr id="11" name="Text 9"/>
          <p:cNvSpPr/>
          <p:nvPr/>
        </p:nvSpPr>
        <p:spPr>
          <a:xfrm>
            <a:off x="1090883" y="4807287"/>
            <a:ext cx="449697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Наглядная визуализация графа распределения ресурсов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48244" y="1484570"/>
            <a:ext cx="5486263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Практическая ценность: система позволяет анализировать состояние системы и выбирать оптимальную стратегию выхода из тупика.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48244" y="3147715"/>
            <a:ext cx="1371566" cy="50701"/>
          </a:xfrm>
          <a:prstGeom prst="roundRect">
            <a:avLst>
              <a:gd name="adj" fmla="val 49999"/>
            </a:avLst>
          </a:prstGeom>
          <a:solidFill>
            <a:srgbClr val="7FE3D0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3503666"/>
            <a:ext cx="5486263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Спасибо за </a:t>
            </a:r>
            <a:r>
              <a:rPr lang="en-US" sz="5200" kern="100" spc="-104" dirty="0" err="1">
                <a:solidFill>
                  <a:srgbClr val="FFFFFF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внимание</a:t>
            </a:r>
            <a:r>
              <a:rPr lang="en-US" sz="5200" kern="100" spc="-104">
                <a:solidFill>
                  <a:srgbClr val="FFFFFF"/>
                </a:solidFill>
                <a:latin typeface="Commissioner ExtraBold" pitchFamily="34" charset="0"/>
                <a:ea typeface="Commissioner ExtraBold" pitchFamily="34" charset="-122"/>
                <a:cs typeface="Commissioner ExtraBold" pitchFamily="34" charset="-120"/>
              </a:rPr>
              <a:t>!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812780" y="2410321"/>
            <a:ext cx="4775081" cy="12700"/>
          </a:xfrm>
          <a:prstGeom prst="rect">
            <a:avLst/>
          </a:prstGeom>
          <a:solidFill>
            <a:srgbClr val="3A0B3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80" y="3484662"/>
            <a:ext cx="4775081" cy="12700"/>
          </a:xfrm>
          <a:prstGeom prst="rect">
            <a:avLst/>
          </a:prstGeom>
          <a:solidFill>
            <a:srgbClr val="3A0B3C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80" y="4559002"/>
            <a:ext cx="4775081" cy="12700"/>
          </a:xfrm>
          <a:prstGeom prst="rect">
            <a:avLst/>
          </a:prstGeom>
          <a:solidFill>
            <a:srgbClr val="3A0B3C"/>
          </a:solidFill>
          <a:ln/>
        </p:spPr>
      </p:sp>
      <p:sp>
        <p:nvSpPr>
          <p:cNvPr id="18" name="Text 16"/>
          <p:cNvSpPr/>
          <p:nvPr/>
        </p:nvSpPr>
        <p:spPr>
          <a:xfrm>
            <a:off x="11786297" y="6526510"/>
            <a:ext cx="40539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5E9F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08</a:t>
            </a:r>
            <a:endParaRPr lang="en-US" sz="12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E22A49B-7320-42EB-8F97-348353691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001" y="6541522"/>
            <a:ext cx="1223000" cy="2572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382</Words>
  <Application>Microsoft Office PowerPoint</Application>
  <PresentationFormat>Широкоэкранный</PresentationFormat>
  <Paragraphs>87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JetBrains Mono Medium</vt:lpstr>
      <vt:lpstr>Arial</vt:lpstr>
      <vt:lpstr>Calibri</vt:lpstr>
      <vt:lpstr>JetBrains Mono</vt:lpstr>
      <vt:lpstr>Golos Text Medium</vt:lpstr>
      <vt:lpstr>Golos Text</vt:lpstr>
      <vt:lpstr>Commissioner ExtraBold</vt:lpstr>
      <vt:lpstr>Golos Text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MURDER3DD</cp:lastModifiedBy>
  <cp:revision>2</cp:revision>
  <dcterms:created xsi:type="dcterms:W3CDTF">2026-10-19T04:45:14Z</dcterms:created>
  <dcterms:modified xsi:type="dcterms:W3CDTF">2026-10-19T05:51:13Z</dcterms:modified>
</cp:coreProperties>
</file>